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embeddedFontLst>
    <p:embeddedFont>
      <p:font typeface="Roboto Serif"/>
      <p:regular r:id="rId34"/>
      <p:bold r:id="rId35"/>
      <p:italic r:id="rId36"/>
      <p:boldItalic r:id="rId37"/>
    </p:embeddedFont>
    <p:embeddedFont>
      <p:font typeface="Roboto Serif ExtraBold"/>
      <p:bold r:id="rId38"/>
      <p:boldItalic r:id="rId39"/>
    </p:embeddedFont>
    <p:embeddedFont>
      <p:font typeface="Roboto Serif Medium"/>
      <p:regular r:id="rId40"/>
      <p:bold r:id="rId41"/>
      <p:italic r:id="rId42"/>
      <p:boldItalic r:id="rId43"/>
    </p:embeddedFont>
    <p:embeddedFont>
      <p:font typeface="Roboto Serif Black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rifMedium-regular.fntdata"/><Relationship Id="rId20" Type="http://schemas.openxmlformats.org/officeDocument/2006/relationships/slide" Target="slides/slide16.xml"/><Relationship Id="rId42" Type="http://schemas.openxmlformats.org/officeDocument/2006/relationships/font" Target="fonts/RobotoSerifMedium-italic.fntdata"/><Relationship Id="rId41" Type="http://schemas.openxmlformats.org/officeDocument/2006/relationships/font" Target="fonts/RobotoSerifMedium-bold.fntdata"/><Relationship Id="rId22" Type="http://schemas.openxmlformats.org/officeDocument/2006/relationships/slide" Target="slides/slide18.xml"/><Relationship Id="rId44" Type="http://schemas.openxmlformats.org/officeDocument/2006/relationships/font" Target="fonts/RobotoSerifBlack-bold.fntdata"/><Relationship Id="rId21" Type="http://schemas.openxmlformats.org/officeDocument/2006/relationships/slide" Target="slides/slide17.xml"/><Relationship Id="rId43" Type="http://schemas.openxmlformats.org/officeDocument/2006/relationships/font" Target="fonts/RobotoSerifMedium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RobotoSerifBlack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RobotoSerif-bold.fntdata"/><Relationship Id="rId12" Type="http://schemas.openxmlformats.org/officeDocument/2006/relationships/slide" Target="slides/slide8.xml"/><Relationship Id="rId34" Type="http://schemas.openxmlformats.org/officeDocument/2006/relationships/font" Target="fonts/RobotoSerif-regular.fntdata"/><Relationship Id="rId15" Type="http://schemas.openxmlformats.org/officeDocument/2006/relationships/slide" Target="slides/slide11.xml"/><Relationship Id="rId37" Type="http://schemas.openxmlformats.org/officeDocument/2006/relationships/font" Target="fonts/RobotoSerif-boldItalic.fntdata"/><Relationship Id="rId14" Type="http://schemas.openxmlformats.org/officeDocument/2006/relationships/slide" Target="slides/slide10.xml"/><Relationship Id="rId36" Type="http://schemas.openxmlformats.org/officeDocument/2006/relationships/font" Target="fonts/RobotoSerif-italic.fntdata"/><Relationship Id="rId17" Type="http://schemas.openxmlformats.org/officeDocument/2006/relationships/slide" Target="slides/slide13.xml"/><Relationship Id="rId39" Type="http://schemas.openxmlformats.org/officeDocument/2006/relationships/font" Target="fonts/RobotoSerifExtraBold-boldItalic.fntdata"/><Relationship Id="rId16" Type="http://schemas.openxmlformats.org/officeDocument/2006/relationships/slide" Target="slides/slide12.xml"/><Relationship Id="rId38" Type="http://schemas.openxmlformats.org/officeDocument/2006/relationships/font" Target="fonts/RobotoSerifExtraBold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ff5a9b1aa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ff5a9b1aa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aff5a9b1aa_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33580fd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933580fd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0ca663a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c0ca663a0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0ca663a0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0ca663a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ff5a9b1aa_1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ff5a9b1aa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c0ca663a0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c0ca663a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c0ca663a0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c0ca663a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0ca663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bc0ca663a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d9fdc5644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d9fdc564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c72bf8ec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c72bf8ec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d9fdc5644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d9fdc564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c72bf8ec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c72bf8ec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c0ca663a0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c0ca663a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c72bf8ec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c72bf8ec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d9fdc5644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d9fdc564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c0ca663a0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c0ca663a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d9fdc5644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d9fdc564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d9fdc5644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d9fdc564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c72bf8ecb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c72bf8ec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c72bf8ecb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c72bf8ec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d9fdc5644_0_8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1" name="Google Shape;271;g3ad9fdc5644_0_8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c72bf8ecb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7" name="Google Shape;277;g3bc72bf8ecb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prudhvikakkunuri.github.io" TargetMode="External"/><Relationship Id="rId4" Type="http://schemas.openxmlformats.org/officeDocument/2006/relationships/hyperlink" Target="http://www.linkedin.com/in/prudhvi-k-387257222" TargetMode="External"/><Relationship Id="rId5" Type="http://schemas.openxmlformats.org/officeDocument/2006/relationships/hyperlink" Target="https://github.com/prudhvikakkunuri" TargetMode="External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" y="13229"/>
            <a:ext cx="1219081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7247075" y="5670625"/>
            <a:ext cx="458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C0C0C"/>
                </a:solidFill>
                <a:latin typeface="Roboto Serif"/>
                <a:ea typeface="Roboto Serif"/>
                <a:cs typeface="Roboto Serif"/>
                <a:sym typeface="Roboto Serif"/>
              </a:rPr>
              <a:t>Kakunuri</a:t>
            </a:r>
            <a:r>
              <a:rPr b="1" lang="en-US" sz="1800">
                <a:solidFill>
                  <a:srgbClr val="0C0C0C"/>
                </a:solidFill>
                <a:latin typeface="Roboto Serif"/>
                <a:ea typeface="Roboto Serif"/>
                <a:cs typeface="Roboto Serif"/>
                <a:sym typeface="Roboto Serif"/>
              </a:rPr>
              <a:t> Prudhvi</a:t>
            </a:r>
            <a:endParaRPr b="1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C0C0C"/>
                </a:solidFill>
                <a:latin typeface="Roboto Serif"/>
                <a:ea typeface="Roboto Serif"/>
                <a:cs typeface="Roboto Serif"/>
                <a:sym typeface="Roboto Serif"/>
              </a:rPr>
              <a:t>BATCH NO:436</a:t>
            </a:r>
            <a:endParaRPr b="1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C0C0C"/>
                </a:solidFill>
                <a:latin typeface="Roboto Serif"/>
                <a:ea typeface="Roboto Serif"/>
                <a:cs typeface="Roboto Serif"/>
                <a:sym typeface="Roboto Serif"/>
              </a:rPr>
              <a:t>Innomatics Research Labs, </a:t>
            </a:r>
            <a:r>
              <a:rPr b="1" lang="en-US" sz="1800">
                <a:solidFill>
                  <a:srgbClr val="0C0C0C"/>
                </a:solidFill>
                <a:latin typeface="Roboto Serif"/>
                <a:ea typeface="Roboto Serif"/>
                <a:cs typeface="Roboto Serif"/>
                <a:sym typeface="Roboto Serif"/>
              </a:rPr>
              <a:t>Dilsukhnagar</a:t>
            </a:r>
            <a:endParaRPr b="1" sz="1800">
              <a:solidFill>
                <a:srgbClr val="0C0C0C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128950" y="3759925"/>
            <a:ext cx="7934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C0C0C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USED CAR PRICE ANALYSIS</a:t>
            </a:r>
            <a:endParaRPr sz="3200">
              <a:solidFill>
                <a:srgbClr val="0C0C0C"/>
              </a:solidFill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728475" y="707100"/>
            <a:ext cx="27036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CC0000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About me:</a:t>
            </a:r>
            <a:endParaRPr sz="2900">
              <a:solidFill>
                <a:srgbClr val="CC0000"/>
              </a:solidFill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22450" y="1470950"/>
            <a:ext cx="117471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6050" lIns="126050" spcFirstLastPara="1" rIns="126050" wrap="square" tIns="126050">
            <a:normAutofit lnSpcReduction="10000"/>
          </a:bodyPr>
          <a:lstStyle/>
          <a:p>
            <a:pPr indent="-387051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5"/>
              <a:buFont typeface="Roboto Serif Medium"/>
              <a:buChar char="➔"/>
            </a:pPr>
            <a:r>
              <a:rPr lang="en-US" sz="2495">
                <a:latin typeface="Roboto Serif Medium"/>
                <a:ea typeface="Roboto Serif Medium"/>
                <a:cs typeface="Roboto Serif Medium"/>
                <a:sym typeface="Roboto Serif Medium"/>
              </a:rPr>
              <a:t>I am </a:t>
            </a:r>
            <a:r>
              <a:rPr b="1" lang="en-US" sz="2495">
                <a:latin typeface="Roboto Serif"/>
                <a:ea typeface="Roboto Serif"/>
                <a:cs typeface="Roboto Serif"/>
                <a:sym typeface="Roboto Serif"/>
              </a:rPr>
              <a:t>K. Prudhvi</a:t>
            </a:r>
            <a:endParaRPr b="1" sz="2495"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87051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 Medium"/>
              <a:buChar char="➔"/>
            </a:pPr>
            <a:r>
              <a:rPr lang="en-US" sz="2495">
                <a:latin typeface="Roboto Serif Medium"/>
                <a:ea typeface="Roboto Serif Medium"/>
                <a:cs typeface="Roboto Serif Medium"/>
                <a:sym typeface="Roboto Serif Medium"/>
              </a:rPr>
              <a:t>I am a Computer Science Engineering graduate from Aurora’s Scientific and Technological Institute.</a:t>
            </a:r>
            <a:endParaRPr sz="2495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87051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 Medium"/>
              <a:buChar char="➔"/>
            </a:pPr>
            <a:r>
              <a:rPr lang="en-US" sz="2495">
                <a:latin typeface="Roboto Serif Medium"/>
                <a:ea typeface="Roboto Serif Medium"/>
                <a:cs typeface="Roboto Serif Medium"/>
                <a:sym typeface="Roboto Serif Medium"/>
              </a:rPr>
              <a:t>I see Data Science &amp; AI as the future of Technologies and Businesses.</a:t>
            </a:r>
            <a:endParaRPr sz="2495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87051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"/>
              <a:buChar char="➔"/>
            </a:pPr>
            <a:r>
              <a:rPr b="1" lang="en-US" sz="2495">
                <a:latin typeface="Roboto Serif"/>
                <a:ea typeface="Roboto Serif"/>
                <a:cs typeface="Roboto Serif"/>
                <a:sym typeface="Roboto Serif"/>
              </a:rPr>
              <a:t>Portfolio Website: </a:t>
            </a:r>
            <a:r>
              <a:rPr lang="en-US" sz="2495" u="sng">
                <a:solidFill>
                  <a:schemeClr val="hlink"/>
                </a:solidFill>
                <a:latin typeface="Roboto Serif"/>
                <a:ea typeface="Roboto Serif"/>
                <a:cs typeface="Roboto Serif"/>
                <a:sym typeface="Roboto Serif"/>
                <a:hlinkClick r:id="rId3"/>
              </a:rPr>
              <a:t>prudhvikakkunuri.github.io</a:t>
            </a:r>
            <a:endParaRPr sz="2495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87051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 Medium"/>
              <a:buChar char="➔"/>
            </a:pPr>
            <a:r>
              <a:rPr b="1" lang="en-US" sz="2495">
                <a:latin typeface="Roboto Serif"/>
                <a:ea typeface="Roboto Serif"/>
                <a:cs typeface="Roboto Serif"/>
                <a:sym typeface="Roboto Serif"/>
              </a:rPr>
              <a:t>LinkedIn</a:t>
            </a:r>
            <a:r>
              <a:rPr lang="en-US" sz="2495">
                <a:latin typeface="Roboto Serif Medium"/>
                <a:ea typeface="Roboto Serif Medium"/>
                <a:cs typeface="Roboto Serif Medium"/>
                <a:sym typeface="Roboto Serif Medium"/>
              </a:rPr>
              <a:t>: </a:t>
            </a:r>
            <a:r>
              <a:rPr lang="en-US" sz="2495" u="sng">
                <a:solidFill>
                  <a:srgbClr val="3C78D8"/>
                </a:solidFill>
                <a:latin typeface="Roboto Serif"/>
                <a:ea typeface="Roboto Serif"/>
                <a:cs typeface="Roboto Serif"/>
                <a:sym typeface="Roboto Serif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www.linkedin.com/in/prudhvi-k-387257222 </a:t>
            </a:r>
            <a:endParaRPr sz="2495">
              <a:solidFill>
                <a:srgbClr val="3C78D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87051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 Medium"/>
              <a:buChar char="➔"/>
            </a:pPr>
            <a:r>
              <a:rPr b="1" lang="en-US" sz="2495">
                <a:latin typeface="Roboto Serif"/>
                <a:ea typeface="Roboto Serif"/>
                <a:cs typeface="Roboto Serif"/>
                <a:sym typeface="Roboto Serif"/>
              </a:rPr>
              <a:t>GitHub</a:t>
            </a:r>
            <a:r>
              <a:rPr lang="en-US" sz="2495">
                <a:latin typeface="Roboto Serif Medium"/>
                <a:ea typeface="Roboto Serif Medium"/>
                <a:cs typeface="Roboto Serif Medium"/>
                <a:sym typeface="Roboto Serif Medium"/>
              </a:rPr>
              <a:t>: </a:t>
            </a:r>
            <a:r>
              <a:rPr lang="en-US" sz="2495" u="sng">
                <a:solidFill>
                  <a:srgbClr val="3C78D8"/>
                </a:solidFill>
                <a:latin typeface="Roboto Serif"/>
                <a:ea typeface="Roboto Serif"/>
                <a:cs typeface="Roboto Serif"/>
                <a:sym typeface="Roboto Serif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https://github.com/prudhvikakkunuri</a:t>
            </a:r>
            <a:endParaRPr sz="2495">
              <a:solidFill>
                <a:srgbClr val="3C78D8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008751" y="762278"/>
            <a:ext cx="417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INTRODUCTION</a:t>
            </a:r>
            <a:endParaRPr b="1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831450" y="1602141"/>
            <a:ext cx="10376400" cy="4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The Indian used-car market is rapidly growing, yet buyers often face ambiguity and lack of transparency in pricing, distance travelled, fuel preference, and resale value.</a:t>
            </a:r>
            <a:b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This project applies data-driven analysis to help users make informed and confident used-car purchasing decisions.</a:t>
            </a:r>
            <a:b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The dataset was collected through web scraping the Spinny marketplace using BeautifulSoup and Selenium.</a:t>
            </a:r>
            <a:b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Using data cleaning, EDA and hypothesis testing to identify key price drivers and reduce ambiguity.</a:t>
            </a: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1825" y="1330741"/>
            <a:ext cx="10885200" cy="48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3225" lvl="0" marL="457200" rtl="0" algn="just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The used-car market presents high price variability and limited transparency, making it difficult for buyers to evaluate whether a vehicle is fairly priced.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03225" lvl="0" marL="457200" rtl="0" algn="just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Buyers often lack clarity on how critical factors such as manufacturing year, km travelled, fuel type, transmission, brand, and location influence used-car prices.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03225" lvl="0" marL="457200" rtl="0" algn="just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Purchasing decisions are frequently based on intuition, seller claims, or limited comparisons, increasing the risk of overpaying.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03225" lvl="0" marL="457200" rtl="0" algn="just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This project aims to enhance decision-making for users planning to buy a used car by eliminating ambiguity through data-driven insights and price prediction.</a:t>
            </a:r>
            <a:endParaRPr sz="23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758613" y="559198"/>
            <a:ext cx="833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PROBLEM STATEMENT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43200" y="523373"/>
            <a:ext cx="285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CONTENTS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907200" y="1108373"/>
            <a:ext cx="10377600" cy="56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Data Collection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Data overview 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Data Cleaning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Detecting &amp; Treating Outliers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Detecting &amp; Treating Null values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Numerical Analysis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Categorical Analysis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Price Analysis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Geographical</a:t>
            </a: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Analysis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Correlation Analysis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Hypothesis Testing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AutoNum type="arabicPeriod"/>
            </a:pPr>
            <a:r>
              <a:rPr b="1" lang="en-US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Conclusion</a:t>
            </a:r>
            <a:endParaRPr b="1"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645450" y="1505950"/>
            <a:ext cx="10901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Collected real-world used-car listing data by web scraping the Spinny used-car marketplace.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Used Selenium to handle dynamic page loading and infinite scrolling on the Spinny website.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Applied BeautifulSoup to parse HTML content and extract structured details such as price, year, mileage, fuel type, transmission, and location.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Compiled the scraped data into a clean, structured dataset for analysis and modeling.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1736471" y="703408"/>
            <a:ext cx="856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DATA </a:t>
            </a: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COLLECTION</a:t>
            </a:r>
            <a:endParaRPr b="1" sz="18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38243"/>
            <a:ext cx="11887199" cy="5824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654107" y="1417218"/>
            <a:ext cx="104007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year - The year that the car was brought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brand - The company the car belongs to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model - Model of the car(Thar, Scorpio)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variant - Variant of the car(Base, Middle, High end)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km - No of kilometers travelled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fuel - Type of the fuel(petrol, diesel)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transmission - Transmission of the car (Manual, automatic, semi-automatic)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registration - State of registration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price - Cost of the car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location - Location of the seller/showroom</a:t>
            </a:r>
            <a:endParaRPr sz="17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Serif Medium"/>
              <a:buAutoNum type="arabicPeriod"/>
            </a:pPr>
            <a:r>
              <a:rPr lang="en-US" sz="170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city - Current city</a:t>
            </a:r>
            <a:endParaRPr sz="24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1701828" y="600101"/>
            <a:ext cx="856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DATA </a:t>
            </a: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OVERVIEW &amp; UNDERSTANDING</a:t>
            </a:r>
            <a:endParaRPr b="1" sz="18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Screenshot 2026-01-28 1748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00" y="1031100"/>
            <a:ext cx="11454400" cy="506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817050" y="1161275"/>
            <a:ext cx="106962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Initially, all columns were in nominal (object) format; quantitative features such as price and kilometers driven were identified and converted into numeric data types.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Applied string processing techniques including </a:t>
            </a:r>
            <a:r>
              <a:rPr lang="en-US" sz="1700">
                <a:solidFill>
                  <a:srgbClr val="188038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replace()</a:t>
            </a: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, </a:t>
            </a:r>
            <a:r>
              <a:rPr lang="en-US" sz="1700">
                <a:solidFill>
                  <a:srgbClr val="188038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strip()</a:t>
            </a: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, and </a:t>
            </a:r>
            <a:r>
              <a:rPr lang="en-US" sz="1700">
                <a:solidFill>
                  <a:srgbClr val="188038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mul()</a:t>
            </a: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 to remove units and standardize values.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This transformation enabled accurate analysis, visualization, and modeling by ensuring numerical consistency.</a:t>
            </a:r>
            <a:endParaRPr sz="20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1598846" y="485844"/>
            <a:ext cx="856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DATA CLEANING</a:t>
            </a:r>
            <a:endParaRPr b="1" sz="18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842" y="3747025"/>
            <a:ext cx="21907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2888" y="3776063"/>
            <a:ext cx="2055517" cy="26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/>
          <p:nvPr/>
        </p:nvSpPr>
        <p:spPr>
          <a:xfrm>
            <a:off x="5326492" y="4639375"/>
            <a:ext cx="1069500" cy="88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830425" y="1423025"/>
            <a:ext cx="10696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Performed outlier detection using the Interquartile Range (IQR) method to identify extreme values in numerical columns such as price and kilometers driven.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Defined lower and upper bounds using Q1 − 1.5×IQR and Q3 + 1.5×IQR to isolate abnormal observations.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The Interquartile Range (IQR) focuses on the middle 50% of the data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 Medium"/>
              <a:buChar char="➔"/>
            </a:pPr>
            <a:r>
              <a:rPr lang="en-US" sz="1800">
                <a:latin typeface="Roboto Serif Medium"/>
                <a:ea typeface="Roboto Serif Medium"/>
                <a:cs typeface="Roboto Serif Medium"/>
                <a:sym typeface="Roboto Serif Medium"/>
              </a:rPr>
              <a:t>Removed extreme values to reduce skewness and prevent distortion in statistical analysis and model performance.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1598846" y="485844"/>
            <a:ext cx="856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DETECTING &amp; TREATING OUTLIERS</a:t>
            </a:r>
            <a:endParaRPr b="1" sz="18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26" y="660400"/>
            <a:ext cx="52101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926" y="3462750"/>
            <a:ext cx="5210175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5176" y="3462750"/>
            <a:ext cx="49149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5176" y="729872"/>
            <a:ext cx="4914900" cy="247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/>
          <p:nvPr/>
        </p:nvSpPr>
        <p:spPr>
          <a:xfrm>
            <a:off x="5679381" y="2861375"/>
            <a:ext cx="1069500" cy="88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925" y="3476100"/>
            <a:ext cx="49149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/>
          <p:nvPr/>
        </p:nvSpPr>
        <p:spPr>
          <a:xfrm>
            <a:off x="5478854" y="4104625"/>
            <a:ext cx="1069500" cy="88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8100" y="3476100"/>
            <a:ext cx="500062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747900" y="874925"/>
            <a:ext cx="111192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Even after treating the outliers price column still has some extreme values present because the price column is extremely right skewed.</a:t>
            </a: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56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It is treated by applying </a:t>
            </a: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logarithmic</a:t>
            </a: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 transformation and created a duplicated column named as log_price </a:t>
            </a: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/>
        </p:nvSpPr>
        <p:spPr>
          <a:xfrm>
            <a:off x="454275" y="1161275"/>
            <a:ext cx="11058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Except for location column all the columns have no null values.</a:t>
            </a: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The null values of location were imputed with “Location not found” because as we have extracted city and state column it is </a:t>
            </a: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negligible</a:t>
            </a: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 but dropping those rows might effect mean of price.</a:t>
            </a: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1652321" y="577256"/>
            <a:ext cx="856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DETECTING &amp; TREATING NULL VALUES</a:t>
            </a:r>
            <a:endParaRPr b="1" sz="1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00" y="3181625"/>
            <a:ext cx="5810028" cy="307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0639" y="3143627"/>
            <a:ext cx="1914525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86414" y="3129340"/>
            <a:ext cx="18859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8557336" y="4303090"/>
            <a:ext cx="876900" cy="70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 rotWithShape="1">
          <a:blip r:embed="rId4">
            <a:alphaModFix/>
          </a:blip>
          <a:srcRect b="48851" l="0" r="0" t="0"/>
          <a:stretch/>
        </p:blipFill>
        <p:spPr>
          <a:xfrm>
            <a:off x="152400" y="638247"/>
            <a:ext cx="11887202" cy="304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 txBox="1"/>
          <p:nvPr/>
        </p:nvSpPr>
        <p:spPr>
          <a:xfrm>
            <a:off x="2984150" y="-3375"/>
            <a:ext cx="73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NUMERICAL ANALYSIS</a:t>
            </a:r>
            <a:endParaRPr b="1" sz="1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218100" y="4039925"/>
            <a:ext cx="5829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Most listings are concentrated between 2015 and 2023, indicating a higher availability of relatively newer used cars.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Very few cars are listed from earlier years, showing lower retention and resale of older vehicles.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6552525" y="4039925"/>
            <a:ext cx="53082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700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KM values are right-skewed, with most cars driven between 20,000 and 70,000 km.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Fewer cars appear at very high km travelled levels, reflecting lower resale demand for heavily used vehicles.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 title="Screenshot 2026-01-31 0910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988" y="861543"/>
            <a:ext cx="10734675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/>
        </p:nvSpPr>
        <p:spPr>
          <a:xfrm>
            <a:off x="849000" y="3875675"/>
            <a:ext cx="53625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Price distribution is strongly right-skewed, with most cars priced in the lower to mid range.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A small number of high-priced cars create a long tail, indicating premium or newer models.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6651100" y="3875675"/>
            <a:ext cx="49326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After log transformation, the price distribution becomes more symmetric and closer to normal.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This confirms that log transformation is effective for reducing skewness and improving suitability for statistical modeling.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/>
        </p:nvSpPr>
        <p:spPr>
          <a:xfrm>
            <a:off x="2857900" y="71425"/>
            <a:ext cx="73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CATEGORICAL </a:t>
            </a:r>
            <a:r>
              <a:rPr b="1" lang="en-US" sz="26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ANALYSIS</a:t>
            </a:r>
            <a:endParaRPr b="1" sz="1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350" y="635775"/>
            <a:ext cx="8652199" cy="379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1104075" y="4428925"/>
            <a:ext cx="9607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Maruti and Hyundai dominate the used-car market, indicating high resale volume and customer trust.</a:t>
            </a:r>
            <a:b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Other brands have significantly fewer listings, showing a long-tail distribution in brand availability.</a:t>
            </a: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675" y="611775"/>
            <a:ext cx="4450375" cy="315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1950" y="297825"/>
            <a:ext cx="4324825" cy="35706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/>
          <p:nvPr/>
        </p:nvSpPr>
        <p:spPr>
          <a:xfrm>
            <a:off x="841300" y="4269825"/>
            <a:ext cx="4779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Manual cars dominate the listings, reflecting buyer preference for affordability and fuel efficiency.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Automatic cars form a smaller share, suggesting higher prices and lower resale volume.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6681950" y="4269825"/>
            <a:ext cx="4779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Petrol cars account for the majority of listings (~90%), making them the most common choice in the used-car market.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Diesel and CNG contribute a much smaller share, indicating limited availability and niche demand.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 txBox="1"/>
          <p:nvPr/>
        </p:nvSpPr>
        <p:spPr>
          <a:xfrm>
            <a:off x="2857900" y="71425"/>
            <a:ext cx="73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PRICE </a:t>
            </a:r>
            <a:r>
              <a:rPr b="1" lang="en-US" sz="26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ANALYSIS</a:t>
            </a:r>
            <a:endParaRPr b="1" sz="1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25" y="715413"/>
            <a:ext cx="6280825" cy="3481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5313" y="715413"/>
            <a:ext cx="6581775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 txBox="1"/>
          <p:nvPr/>
        </p:nvSpPr>
        <p:spPr>
          <a:xfrm>
            <a:off x="340600" y="4260550"/>
            <a:ext cx="55545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Hybrid and diesel cars show higher median prices, reflecting better fuel efficiency and higher upfront value.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Petrol cars have a wider price spread, indicating availability across both budget and premium segments.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7669600" y="4363500"/>
            <a:ext cx="5554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Automatic cars have a higher median price compared to manual cars.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Manual cars show lower prices with tighter distribution, highlighting their budget-friendly nature.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0" y="631800"/>
            <a:ext cx="5465840" cy="316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3183" y="631800"/>
            <a:ext cx="5070792" cy="31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2"/>
          <p:cNvSpPr txBox="1"/>
          <p:nvPr/>
        </p:nvSpPr>
        <p:spPr>
          <a:xfrm>
            <a:off x="340600" y="4260550"/>
            <a:ext cx="5554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Price generally decreases as kilometers driven increase, confirming the depreciation effect of mileage.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High-priced cars are mostly concentrated at lower mileage levels.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6251325" y="4260550"/>
            <a:ext cx="5554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Clear upward trend between manufacturing year and price, showing that newer cars command higher value.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Older cars are clustered at lower prices, confirming age-based depreciation.</a:t>
            </a: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3"/>
          <p:cNvSpPr txBox="1"/>
          <p:nvPr/>
        </p:nvSpPr>
        <p:spPr>
          <a:xfrm>
            <a:off x="2857900" y="71425"/>
            <a:ext cx="73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Location &amp; Geography Analysis</a:t>
            </a:r>
            <a:endParaRPr b="1" sz="1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325" y="770200"/>
            <a:ext cx="5481025" cy="37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2900" y="716425"/>
            <a:ext cx="55544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3"/>
          <p:cNvSpPr txBox="1"/>
          <p:nvPr/>
        </p:nvSpPr>
        <p:spPr>
          <a:xfrm>
            <a:off x="340600" y="4260550"/>
            <a:ext cx="55545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Hyderabad and Visakhapatnam have the highest number of listings, indicating strong used-car market activity in these cities.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Major metro cities dominate the list, suggesting higher supply and demand concentration in urban regions.</a:t>
            </a:r>
            <a:endParaRPr sz="24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6312850" y="4364400"/>
            <a:ext cx="55545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Telangana (TG) has the highest average used-car prices, possibly due to newer inventory or higher-end vehicle demand.</a:t>
            </a:r>
            <a:b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7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Roboto Serif Medium"/>
              <a:buChar char="➔"/>
            </a:pPr>
            <a:r>
              <a:rPr lang="en-US" sz="1700">
                <a:latin typeface="Roboto Serif Medium"/>
                <a:ea typeface="Roboto Serif Medium"/>
                <a:cs typeface="Roboto Serif Medium"/>
                <a:sym typeface="Roboto Serif Medium"/>
              </a:rPr>
              <a:t>States show noticeable variation in average prices, highlighting geographical influence on used-car valuation.</a:t>
            </a:r>
            <a:endParaRPr sz="23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4"/>
          <p:cNvSpPr txBox="1"/>
          <p:nvPr/>
        </p:nvSpPr>
        <p:spPr>
          <a:xfrm>
            <a:off x="2857900" y="71425"/>
            <a:ext cx="73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Correlation </a:t>
            </a:r>
            <a:r>
              <a:rPr b="1" lang="en-US" sz="26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Analysis</a:t>
            </a:r>
            <a:endParaRPr b="1" sz="1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228" name="Google Shape;22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25" y="1173200"/>
            <a:ext cx="5019675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 txBox="1"/>
          <p:nvPr/>
        </p:nvSpPr>
        <p:spPr>
          <a:xfrm>
            <a:off x="6240525" y="1478025"/>
            <a:ext cx="55545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Roboto Serif Medium"/>
              <a:buChar char="➔"/>
            </a:pPr>
            <a:r>
              <a:rPr lang="en-US" sz="2300">
                <a:latin typeface="Roboto Serif Medium"/>
                <a:ea typeface="Roboto Serif Medium"/>
                <a:cs typeface="Roboto Serif Medium"/>
                <a:sym typeface="Roboto Serif Medium"/>
              </a:rPr>
              <a:t>Price shows a strong positive correlation with year (0.68), indicating that newer cars tend to be priced higher.</a:t>
            </a:r>
            <a:br>
              <a:rPr lang="en-US" sz="23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2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Roboto Serif Medium"/>
              <a:buChar char="➔"/>
            </a:pPr>
            <a:r>
              <a:rPr lang="en-US" sz="2300">
                <a:latin typeface="Roboto Serif Medium"/>
                <a:ea typeface="Roboto Serif Medium"/>
                <a:cs typeface="Roboto Serif Medium"/>
                <a:sym typeface="Roboto Serif Medium"/>
              </a:rPr>
              <a:t>Kilometers driven has a negative relationship with price (-0.16), confirming that higher mileage generally reduces car value.</a:t>
            </a:r>
            <a:endParaRPr sz="23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/>
        </p:nvSpPr>
        <p:spPr>
          <a:xfrm>
            <a:off x="2782421" y="91417"/>
            <a:ext cx="856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HYPOTHESIS TESTING</a:t>
            </a:r>
            <a:endParaRPr b="1" sz="18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235" name="Google Shape;23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5"/>
          <p:cNvSpPr txBox="1"/>
          <p:nvPr/>
        </p:nvSpPr>
        <p:spPr>
          <a:xfrm>
            <a:off x="1055700" y="1891350"/>
            <a:ext cx="10915500" cy="47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50" u="sng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KM driven vs Price</a:t>
            </a:r>
            <a:endParaRPr sz="1950" u="sng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191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H₀: No correlation between km and price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19100" lvl="0" marL="457200" marR="266700" rtl="0" algn="just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H₁: Significant correlation exists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marR="2667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Pearson’s Correlation test is performed to check whether the relationship between KM driven and Price exists.</a:t>
            </a:r>
            <a:endParaRPr sz="1950">
              <a:solidFill>
                <a:schemeClr val="lt1"/>
              </a:solidFill>
              <a:highlight>
                <a:schemeClr val="dk1"/>
              </a:highlight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highlight>
                  <a:schemeClr val="dk1"/>
                </a:highlight>
                <a:latin typeface="Roboto Serif Medium"/>
                <a:ea typeface="Roboto Serif Medium"/>
                <a:cs typeface="Roboto Serif Medium"/>
                <a:sym typeface="Roboto Serif Medium"/>
              </a:rPr>
              <a:t>Since p-value&gt;0.05 Relationship is statistically significant. Hence, failed to reject </a:t>
            </a:r>
            <a:r>
              <a:rPr lang="en-US" sz="1950">
                <a:solidFill>
                  <a:schemeClr val="lt1"/>
                </a:solidFill>
                <a:highlight>
                  <a:schemeClr val="dk1"/>
                </a:highlight>
                <a:latin typeface="Roboto Serif Medium"/>
                <a:ea typeface="Roboto Serif Medium"/>
                <a:cs typeface="Roboto Serif Medium"/>
                <a:sym typeface="Roboto Serif Medium"/>
              </a:rPr>
              <a:t>Alternative</a:t>
            </a:r>
            <a:r>
              <a:rPr lang="en-US" sz="1950">
                <a:solidFill>
                  <a:schemeClr val="lt1"/>
                </a:solidFill>
                <a:highlight>
                  <a:schemeClr val="dk1"/>
                </a:highlight>
                <a:latin typeface="Roboto Serif Medium"/>
                <a:ea typeface="Roboto Serif Medium"/>
                <a:cs typeface="Roboto Serif Medium"/>
                <a:sym typeface="Roboto Serif Medium"/>
              </a:rPr>
              <a:t> Hypothesis </a:t>
            </a: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H₁.</a:t>
            </a:r>
            <a:endParaRPr sz="1950">
              <a:solidFill>
                <a:schemeClr val="lt1"/>
              </a:solidFill>
              <a:highlight>
                <a:schemeClr val="dk1"/>
              </a:highlight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marR="2667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highlight>
                  <a:schemeClr val="dk1"/>
                </a:highlight>
                <a:latin typeface="Roboto Serif Medium"/>
                <a:ea typeface="Roboto Serif Medium"/>
                <a:cs typeface="Roboto Serif Medium"/>
                <a:sym typeface="Roboto Serif Medium"/>
              </a:rPr>
              <a:t>Price decreases as km increases i.e. The Negative relationship exists</a:t>
            </a:r>
            <a:endParaRPr sz="1950">
              <a:solidFill>
                <a:schemeClr val="lt1"/>
              </a:solidFill>
              <a:highlight>
                <a:schemeClr val="dk1"/>
              </a:highlight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1055700" y="1100300"/>
            <a:ext cx="799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Is car price correlated with kilometers driven?</a:t>
            </a:r>
            <a:endParaRPr b="1" sz="2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 txBox="1"/>
          <p:nvPr/>
        </p:nvSpPr>
        <p:spPr>
          <a:xfrm>
            <a:off x="1055700" y="1891350"/>
            <a:ext cx="104931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C0C0C"/>
              </a:buClr>
              <a:buSzPts val="2100"/>
              <a:buFont typeface="Roboto Serif Medium"/>
              <a:buChar char="➔"/>
            </a:pPr>
            <a:r>
              <a:rPr lang="en-US" sz="2100">
                <a:solidFill>
                  <a:srgbClr val="0C0C0C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  </a:t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1055700" y="1891350"/>
            <a:ext cx="11244600" cy="4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50" u="sng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Chi Square test:</a:t>
            </a:r>
            <a:endParaRPr sz="1950" u="sng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191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H₀: Fuel type and Price category are independent.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19100" lvl="0" marL="457200" marR="266700" rtl="0" algn="just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H₁: Fuel type affects likelihood of high price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marR="2667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Chi square test is performed on price by encoding into high_price category column, as chi square test requires only categorical columns</a:t>
            </a:r>
            <a:endParaRPr sz="1950">
              <a:solidFill>
                <a:schemeClr val="lt1"/>
              </a:solidFill>
              <a:highlight>
                <a:schemeClr val="dk1"/>
              </a:highlight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highlight>
                  <a:schemeClr val="dk1"/>
                </a:highlight>
                <a:latin typeface="Roboto Serif Medium"/>
                <a:ea typeface="Roboto Serif Medium"/>
                <a:cs typeface="Roboto Serif Medium"/>
                <a:sym typeface="Roboto Serif Medium"/>
              </a:rPr>
              <a:t>Since p-value&gt;0.05 Failed to Reject Alternative Hypothesis </a:t>
            </a: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H₁.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Fuel type and price category are dependent.</a:t>
            </a:r>
            <a:endParaRPr sz="1950">
              <a:solidFill>
                <a:schemeClr val="lt1"/>
              </a:solidFill>
              <a:highlight>
                <a:schemeClr val="dk1"/>
              </a:highlight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1055700" y="1100300"/>
            <a:ext cx="798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Does fuel type affect being expensive?</a:t>
            </a:r>
            <a:endParaRPr b="1" sz="2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7"/>
          <p:cNvSpPr txBox="1"/>
          <p:nvPr/>
        </p:nvSpPr>
        <p:spPr>
          <a:xfrm>
            <a:off x="1055700" y="1891350"/>
            <a:ext cx="100806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C0C0C"/>
              </a:buClr>
              <a:buSzPts val="2100"/>
              <a:buFont typeface="Roboto Serif Medium"/>
              <a:buChar char="➔"/>
            </a:pPr>
            <a:r>
              <a:rPr lang="en-US" sz="2100">
                <a:solidFill>
                  <a:srgbClr val="0C0C0C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  </a:t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52" name="Google Shape;252;p37"/>
          <p:cNvSpPr txBox="1"/>
          <p:nvPr/>
        </p:nvSpPr>
        <p:spPr>
          <a:xfrm>
            <a:off x="1055700" y="1891350"/>
            <a:ext cx="11002200" cy="4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50" u="sng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Chi Square test:</a:t>
            </a:r>
            <a:endParaRPr sz="1950" u="sng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191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H₀: There is no significant relationship between price and Transmission.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19100" lvl="0" marL="457200" marR="26670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H₁: Automatic cars are more expensive.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marR="266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Chi square test is performed on price category and transmission to check whether transmission effects price or not.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highlight>
                  <a:schemeClr val="dk1"/>
                </a:highlight>
                <a:latin typeface="Roboto Serif Medium"/>
                <a:ea typeface="Roboto Serif Medium"/>
                <a:cs typeface="Roboto Serif Medium"/>
                <a:sym typeface="Roboto Serif Medium"/>
              </a:rPr>
              <a:t>Since p-value&gt;0.05 Failed to Reject Alternative Hypothesis </a:t>
            </a: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H₁.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Transmission type affects price category and Automatic cars are expensive.</a:t>
            </a:r>
            <a:endParaRPr sz="1950">
              <a:solidFill>
                <a:schemeClr val="lt1"/>
              </a:solidFill>
              <a:highlight>
                <a:schemeClr val="dk1"/>
              </a:highlight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1055700" y="1100300"/>
            <a:ext cx="79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Do automatic cars have higher price?</a:t>
            </a:r>
            <a:endParaRPr b="1" sz="2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8"/>
          <p:cNvSpPr txBox="1"/>
          <p:nvPr/>
        </p:nvSpPr>
        <p:spPr>
          <a:xfrm>
            <a:off x="1055700" y="1891350"/>
            <a:ext cx="100806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C0C0C"/>
              </a:buClr>
              <a:buSzPts val="2100"/>
              <a:buFont typeface="Roboto Serif Medium"/>
              <a:buChar char="➔"/>
            </a:pPr>
            <a:r>
              <a:rPr lang="en-US" sz="2100">
                <a:solidFill>
                  <a:srgbClr val="0C0C0C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  </a:t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100">
              <a:solidFill>
                <a:srgbClr val="0C0C0C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1055700" y="1891350"/>
            <a:ext cx="11136300" cy="4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50" u="sng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Z-</a:t>
            </a:r>
            <a:r>
              <a:rPr b="1" lang="en-US" sz="1950" u="sng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test:</a:t>
            </a:r>
            <a:endParaRPr sz="1950" u="sng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191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H₀: Mean price of new cars and old cars are same.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419100" lvl="0" marL="457200" marR="26670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H₁: Mean price of new cars &gt; Mean price of older cars.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marR="266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Z-test is performed on price by splitting into newer and older cars to check whether mean price of new cars &gt; mean price of older cars.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highlight>
                  <a:schemeClr val="dk1"/>
                </a:highlight>
                <a:latin typeface="Roboto Serif Medium"/>
                <a:ea typeface="Roboto Serif Medium"/>
                <a:cs typeface="Roboto Serif Medium"/>
                <a:sym typeface="Roboto Serif Medium"/>
              </a:rPr>
              <a:t>Since p-value&lt;0.05 Failed to Reject Alternative Hypothesis </a:t>
            </a: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H₁.</a:t>
            </a:r>
            <a:endParaRPr sz="195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24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Roboto Serif Medium"/>
              <a:buChar char="➔"/>
            </a:pP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Newer cars </a:t>
            </a:r>
            <a:r>
              <a:rPr lang="en-US" sz="1950">
                <a:solidFill>
                  <a:schemeClr val="lt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(&gt;=2018) have higher prices than older cars.</a:t>
            </a:r>
            <a:endParaRPr sz="1950">
              <a:solidFill>
                <a:schemeClr val="lt1"/>
              </a:solidFill>
              <a:highlight>
                <a:schemeClr val="dk1"/>
              </a:highlight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1055700" y="1100300"/>
            <a:ext cx="907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Do new cars(&gt;=2018) have higher prices than older cars?</a:t>
            </a:r>
            <a:endParaRPr b="1" sz="2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679200" y="1275700"/>
            <a:ext cx="113622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Successfully transformed raw web-scraped data from a used-car marketplace into a clean, structured dataset suitable for analysis.</a:t>
            </a: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56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Identified and quantified the key factors influencing used-car prices, including year of manufacture, kilometers driven, transmission type, fuel type, and location.</a:t>
            </a: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56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Applied exploratory data analysis and hypothesis testing to validate common pricing assumptions using statistical evidence.</a:t>
            </a:r>
            <a:endParaRPr sz="20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556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Serif Medium"/>
              <a:buChar char="➔"/>
            </a:pPr>
            <a:r>
              <a:rPr lang="en-US" sz="2000">
                <a:latin typeface="Roboto Serif Medium"/>
                <a:ea typeface="Roboto Serif Medium"/>
                <a:cs typeface="Roboto Serif Medium"/>
                <a:sym typeface="Roboto Serif Medium"/>
              </a:rPr>
              <a:t>Delivered a data-driven decision-support framework that reduces uncertainty, improves transparency, and enables smarter used-car purchasing decisions.</a:t>
            </a:r>
            <a:endParaRPr sz="34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268" name="Google Shape;268;p39"/>
          <p:cNvSpPr txBox="1"/>
          <p:nvPr/>
        </p:nvSpPr>
        <p:spPr>
          <a:xfrm>
            <a:off x="1815896" y="588274"/>
            <a:ext cx="856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CONCLUSION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/>
        </p:nvSpPr>
        <p:spPr>
          <a:xfrm>
            <a:off x="2141925" y="1908325"/>
            <a:ext cx="7473000" cy="27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CC0000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THANK</a:t>
            </a:r>
            <a:r>
              <a:rPr lang="en-US" sz="9600">
                <a:solidFill>
                  <a:srgbClr val="CC0000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 </a:t>
            </a:r>
            <a:endParaRPr sz="9600">
              <a:solidFill>
                <a:srgbClr val="CC0000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CC0000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YOU</a:t>
            </a:r>
            <a:endParaRPr sz="9600">
              <a:solidFill>
                <a:srgbClr val="CC0000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/>
          <p:nvPr/>
        </p:nvSpPr>
        <p:spPr>
          <a:xfrm>
            <a:off x="2297800" y="2358600"/>
            <a:ext cx="8391900" cy="3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CC0000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Q&amp;A</a:t>
            </a:r>
            <a:endParaRPr sz="9600">
              <a:solidFill>
                <a:srgbClr val="CC0000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pic>
        <p:nvPicPr>
          <p:cNvPr id="280" name="Google Shape;28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